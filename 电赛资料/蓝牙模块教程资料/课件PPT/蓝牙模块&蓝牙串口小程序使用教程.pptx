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3" r:id="rId2"/>
    <p:sldId id="364" r:id="rId3"/>
    <p:sldId id="365" r:id="rId4"/>
    <p:sldId id="366" r:id="rId5"/>
    <p:sldId id="36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9800"/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67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124F4-4C41-86B2-F031-1F3A2CA3A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B1CBB9-635A-957E-32DB-FCBCB7DBE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48BF6A-C5F8-469E-9B7D-711E2AB2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61B72F-F95F-81C7-BAB7-A9177EE0F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BF8A29-1F3F-98B6-AC48-84D65FDB4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237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DA56F-2071-9A5E-B066-FBF5012A5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08F493-DCD0-461D-00F0-5E93FA715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45D41E-ABE3-8D30-D44E-1FE49D87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A5E797-6E3C-1CB1-1078-B43385831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E098A9-41A7-F03B-6425-99E72B61F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893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C0CF7-7F7F-1958-3511-A83C7A1A5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3885B1-E669-021C-67CC-9A0A17B0D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903B95-9861-22A4-07DA-51A2204A3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94C713-F5EA-2B56-AC6E-4993606F9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FE3BC7-5875-FE21-455E-BE9168D27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17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8BD83-B37E-7925-AD24-CC799B363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4864A-0360-0BDF-D4F3-7B5EADADFA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E8E008-4053-BA01-5BA7-7885AEB3E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0F3C59-3B64-DEC7-B791-898EA3E1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7321A7-7CD1-1F9B-AAAB-A70A4291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4B6668-88C2-FFEF-2F33-9A37C361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628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EE2D72-8C4F-DED3-B45A-597ABA4DD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D0C3BC-EAA6-4002-CD2F-838E13EEB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7A2112-0C9A-F04A-ABCF-3A658B5C8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A8C619-3C94-A2AD-8C74-366689D486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5BFC44-1F84-797A-32F8-EE55802B8E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D2003E-9A80-9CFB-815D-C031E201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A45984-FE11-69D5-1143-08B721015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61F996F-4E2A-B4EF-2782-74D7E3569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022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9DE09-106E-5491-0CA2-F0200EE9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47C5DC-17CC-4445-83EF-04957D436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431942-41FD-1058-8F6B-7D674333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9CCE7D-ABEC-1A78-937C-7EBF25EC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4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DD7150-F04F-3518-B5F3-2583A126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0300C5-DBB6-DBD8-7D9C-04974FBA0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2F66C7-12DB-9001-1870-5A53B84D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60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B3630-34C1-279F-4C0E-A83E1EC47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F896B8-0E9C-7450-A55A-EB56154D3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3AB4EF-6680-09CE-0496-C6FAC8AF1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C4E805-FD2F-F8D1-63CD-47BD1415A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9F794E-4AE6-27B7-393E-B9A6A9023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B81B9A-147D-BCC1-0B40-290D3E24A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1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67DF00-992E-0E0F-DD87-D3A48B2C5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D91AA3A-1AA7-D3D1-1652-ED5BCF9D1B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F251AD-6520-BB7A-03F5-35E08E35D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8C8530-2A86-D52A-22B0-CCB1DDD28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B549AB-2FFD-86E3-4BD2-6AAA23711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AABEED-9678-2CA6-5C82-1D1B4BC47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72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380C8B-0CD5-8502-8E3E-829BA4B7B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C3227D-0B8C-A38D-BA27-460DF2FBC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B93B8B-694F-72AD-5678-61C6E9983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C81A15-7C3E-2F14-24C9-7E97C7BBD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7E3A4B-3C59-B578-7070-2A9219184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048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9BAAB18-B1D9-CBF4-15B0-94442BE46F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3F4237-51B8-F68A-D0CC-CAAE14D15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18F4D2-824B-A39F-8BC3-7683F0CC8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3D94E7-BD4E-5374-EF24-BFA63289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1D91E2-3CFE-1222-02AB-03C2BCF9F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51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A2C4F3-B8D1-07A2-A442-0C1B3325A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97D2EA-ABC2-510D-138C-867D071A5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3A066F-242C-CEDE-B769-33BAA08A75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C4899-AD01-4415-A7FD-A2DAE090205E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76DD34-B325-3DD2-B202-A664DEDB6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B7E3FA-BCB2-67FF-49F9-65D7A1E2D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383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1.png"/><Relationship Id="rId5" Type="http://schemas.openxmlformats.org/officeDocument/2006/relationships/image" Target="../media/image5.jpg"/><Relationship Id="rId10" Type="http://schemas.openxmlformats.org/officeDocument/2006/relationships/image" Target="../media/image10.pn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696000" y="1219541"/>
            <a:ext cx="10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蓝牙模块可以将有线串口数据流转换为无线蓝牙数据流，实现无线串口功能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蓝牙模块简介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graphicFrame>
        <p:nvGraphicFramePr>
          <p:cNvPr id="5" name="表格 2">
            <a:extLst>
              <a:ext uri="{FF2B5EF4-FFF2-40B4-BE49-F238E27FC236}">
                <a16:creationId xmlns:a16="http://schemas.microsoft.com/office/drawing/2014/main" id="{A776FC8D-F470-962C-6DE5-D9282EFE4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674758"/>
              </p:ext>
            </p:extLst>
          </p:nvPr>
        </p:nvGraphicFramePr>
        <p:xfrm>
          <a:off x="993914" y="1916411"/>
          <a:ext cx="1020417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219">
                  <a:extLst>
                    <a:ext uri="{9D8B030D-6E8A-4147-A177-3AD203B41FA5}">
                      <a16:colId xmlns:a16="http://schemas.microsoft.com/office/drawing/2014/main" val="990315023"/>
                    </a:ext>
                  </a:extLst>
                </a:gridCol>
                <a:gridCol w="2707635">
                  <a:extLst>
                    <a:ext uri="{9D8B030D-6E8A-4147-A177-3AD203B41FA5}">
                      <a16:colId xmlns:a16="http://schemas.microsoft.com/office/drawing/2014/main" val="1635433632"/>
                    </a:ext>
                  </a:extLst>
                </a:gridCol>
                <a:gridCol w="5717318">
                  <a:extLst>
                    <a:ext uri="{9D8B030D-6E8A-4147-A177-3AD203B41FA5}">
                      <a16:colId xmlns:a16="http://schemas.microsoft.com/office/drawing/2014/main" val="2096304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蓝牙类别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标志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特性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196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经典蓝牙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SPP</a:t>
                      </a:r>
                      <a:r>
                        <a:rPr lang="zh-CN" altLang="en-US"/>
                        <a:t>，蓝牙</a:t>
                      </a:r>
                      <a:r>
                        <a:rPr lang="en-US" altLang="zh-CN"/>
                        <a:t>3.0</a:t>
                      </a:r>
                      <a:r>
                        <a:rPr lang="zh-CN" altLang="en-US"/>
                        <a:t>及以下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功耗高，速率较快，先配对后连接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207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低功耗蓝牙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BLE</a:t>
                      </a:r>
                      <a:r>
                        <a:rPr lang="zh-CN" altLang="en-US"/>
                        <a:t>，蓝牙</a:t>
                      </a:r>
                      <a:r>
                        <a:rPr lang="en-US" altLang="zh-CN"/>
                        <a:t>4.0</a:t>
                      </a:r>
                      <a:r>
                        <a:rPr lang="zh-CN" altLang="en-US"/>
                        <a:t>及以上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功耗低，速率较慢，快速连接</a:t>
                      </a:r>
                      <a:endParaRPr lang="en-US" altLang="zh-CN"/>
                    </a:p>
                    <a:p>
                      <a:pPr algn="ctr"/>
                      <a:r>
                        <a:rPr lang="zh-CN" altLang="en-US"/>
                        <a:t>增加组网、广播、定位等新功能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9363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双模蓝牙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SPP + BLE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同时集成经典蓝牙和低功耗蓝牙，兼容性更强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52564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BE4613E-D230-1BCF-D5E5-E3185935A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096276"/>
              </p:ext>
            </p:extLst>
          </p:nvPr>
        </p:nvGraphicFramePr>
        <p:xfrm>
          <a:off x="993914" y="4129321"/>
          <a:ext cx="4672768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5189">
                  <a:extLst>
                    <a:ext uri="{9D8B030D-6E8A-4147-A177-3AD203B41FA5}">
                      <a16:colId xmlns:a16="http://schemas.microsoft.com/office/drawing/2014/main" val="990315023"/>
                    </a:ext>
                  </a:extLst>
                </a:gridCol>
                <a:gridCol w="2907579">
                  <a:extLst>
                    <a:ext uri="{9D8B030D-6E8A-4147-A177-3AD203B41FA5}">
                      <a16:colId xmlns:a16="http://schemas.microsoft.com/office/drawing/2014/main" val="2096304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主从类别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特性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196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单从机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仅能被动等待主设备连接，无法主动发起连接请求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207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主从一体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可切换角色为主设备或从设备，作为主设备时，可主动发起连接请求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9363451"/>
                  </a:ext>
                </a:extLst>
              </a:tr>
            </a:tbl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51BCE9B7-7036-4140-F9CA-2389F0884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106" y="4179479"/>
            <a:ext cx="5335980" cy="181388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9F61DA3-820D-EEAF-D7B6-4E84F5B6C4C4}"/>
              </a:ext>
            </a:extLst>
          </p:cNvPr>
          <p:cNvSpPr txBox="1"/>
          <p:nvPr/>
        </p:nvSpPr>
        <p:spPr>
          <a:xfrm>
            <a:off x="6025448" y="5679146"/>
            <a:ext cx="5014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CN" sz="1400">
                <a:latin typeface="+mn-ea"/>
              </a:rPr>
              <a:t>HC-04      HC-05      HC-08       JDY-31       JDY-33        BT16</a:t>
            </a:r>
          </a:p>
        </p:txBody>
      </p:sp>
    </p:spTree>
    <p:extLst>
      <p:ext uri="{BB962C8B-B14F-4D97-AF65-F5344CB8AC3E}">
        <p14:creationId xmlns:p14="http://schemas.microsoft.com/office/powerpoint/2010/main" val="427598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硬件连接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grpSp>
        <p:nvGrpSpPr>
          <p:cNvPr id="210" name="组合 209">
            <a:extLst>
              <a:ext uri="{FF2B5EF4-FFF2-40B4-BE49-F238E27FC236}">
                <a16:creationId xmlns:a16="http://schemas.microsoft.com/office/drawing/2014/main" id="{F7CF3827-3B57-9BEF-8DEE-AD9A375F53E2}"/>
              </a:ext>
            </a:extLst>
          </p:cNvPr>
          <p:cNvGrpSpPr/>
          <p:nvPr/>
        </p:nvGrpSpPr>
        <p:grpSpPr>
          <a:xfrm>
            <a:off x="1845674" y="2928747"/>
            <a:ext cx="7365594" cy="1406910"/>
            <a:chOff x="1698918" y="3058872"/>
            <a:chExt cx="7365594" cy="1406910"/>
          </a:xfrm>
        </p:grpSpPr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6CF626FC-C5BF-8142-EDBC-914D44A3D8C1}"/>
                </a:ext>
              </a:extLst>
            </p:cNvPr>
            <p:cNvSpPr txBox="1"/>
            <p:nvPr/>
          </p:nvSpPr>
          <p:spPr>
            <a:xfrm>
              <a:off x="6672060" y="4156033"/>
              <a:ext cx="7569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5V/3V3</a:t>
              </a:r>
              <a:endParaRPr lang="zh-CN" altLang="en-US" sz="1400"/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DF76D8B7-BB84-C016-841E-AEA92BCBB826}"/>
                </a:ext>
              </a:extLst>
            </p:cNvPr>
            <p:cNvSpPr txBox="1"/>
            <p:nvPr/>
          </p:nvSpPr>
          <p:spPr>
            <a:xfrm>
              <a:off x="5832772" y="4158005"/>
              <a:ext cx="7569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5V/3V3</a:t>
              </a:r>
              <a:endParaRPr lang="zh-CN" altLang="en-US" sz="1400"/>
            </a:p>
          </p:txBody>
        </p:sp>
        <p:grpSp>
          <p:nvGrpSpPr>
            <p:cNvPr id="206" name="组合 205">
              <a:extLst>
                <a:ext uri="{FF2B5EF4-FFF2-40B4-BE49-F238E27FC236}">
                  <a16:creationId xmlns:a16="http://schemas.microsoft.com/office/drawing/2014/main" id="{1DC72B4B-F228-7267-496D-1030C860EFB6}"/>
                </a:ext>
              </a:extLst>
            </p:cNvPr>
            <p:cNvGrpSpPr/>
            <p:nvPr/>
          </p:nvGrpSpPr>
          <p:grpSpPr>
            <a:xfrm>
              <a:off x="4202868" y="3058872"/>
              <a:ext cx="4861644" cy="1179486"/>
              <a:chOff x="4202868" y="3058872"/>
              <a:chExt cx="4861644" cy="1179486"/>
            </a:xfrm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A9CF208E-4FB7-8093-04B1-BA0D008AB5BA}"/>
                  </a:ext>
                </a:extLst>
              </p:cNvPr>
              <p:cNvGrpSpPr/>
              <p:nvPr/>
            </p:nvGrpSpPr>
            <p:grpSpPr>
              <a:xfrm>
                <a:off x="7350018" y="3074864"/>
                <a:ext cx="1714494" cy="1162701"/>
                <a:chOff x="4895261" y="2046703"/>
                <a:chExt cx="1714494" cy="1162701"/>
              </a:xfrm>
            </p:grpSpPr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54BB6808-72FC-C137-074D-CEB5A2FC7068}"/>
                    </a:ext>
                  </a:extLst>
                </p:cNvPr>
                <p:cNvSpPr/>
                <p:nvPr/>
              </p:nvSpPr>
              <p:spPr>
                <a:xfrm>
                  <a:off x="4895261" y="2046703"/>
                  <a:ext cx="1708884" cy="116270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F15BB806-8F36-08D3-3E1A-E5207231FE7C}"/>
                    </a:ext>
                  </a:extLst>
                </p:cNvPr>
                <p:cNvSpPr txBox="1"/>
                <p:nvPr/>
              </p:nvSpPr>
              <p:spPr>
                <a:xfrm>
                  <a:off x="5886480" y="2474164"/>
                  <a:ext cx="72327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>
                      <a:solidFill>
                        <a:schemeClr val="bg1"/>
                      </a:solidFill>
                    </a:rPr>
                    <a:t>单片机</a:t>
                  </a:r>
                </a:p>
              </p:txBody>
            </p:sp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0F92B7D0-23FA-6886-792C-051E1208EFDA}"/>
                    </a:ext>
                  </a:extLst>
                </p:cNvPr>
                <p:cNvSpPr txBox="1"/>
                <p:nvPr/>
              </p:nvSpPr>
              <p:spPr>
                <a:xfrm>
                  <a:off x="4895261" y="2205053"/>
                  <a:ext cx="5164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1"/>
                      </a:solidFill>
                    </a:rPr>
                    <a:t>RXD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11EFB4D9-A4B9-FAA3-D8BE-0272BCE0DA29}"/>
                    </a:ext>
                  </a:extLst>
                </p:cNvPr>
                <p:cNvSpPr txBox="1"/>
                <p:nvPr/>
              </p:nvSpPr>
              <p:spPr>
                <a:xfrm>
                  <a:off x="4895261" y="2379395"/>
                  <a:ext cx="50526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1"/>
                      </a:solidFill>
                    </a:rPr>
                    <a:t>TXD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FE324C43-FCAD-035D-C46E-ABB396C51996}"/>
                    </a:ext>
                  </a:extLst>
                </p:cNvPr>
                <p:cNvSpPr txBox="1"/>
                <p:nvPr/>
              </p:nvSpPr>
              <p:spPr>
                <a:xfrm>
                  <a:off x="4895261" y="2553737"/>
                  <a:ext cx="56137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1"/>
                      </a:solidFill>
                    </a:rPr>
                    <a:t>GND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4D84E60D-6B88-03ED-D542-DA34CD8342BB}"/>
                    </a:ext>
                  </a:extLst>
                </p:cNvPr>
                <p:cNvSpPr txBox="1"/>
                <p:nvPr/>
              </p:nvSpPr>
              <p:spPr>
                <a:xfrm>
                  <a:off x="4895261" y="2730185"/>
                  <a:ext cx="5164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1"/>
                      </a:solidFill>
                    </a:rPr>
                    <a:t>VCC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71" name="组合 70">
                <a:extLst>
                  <a:ext uri="{FF2B5EF4-FFF2-40B4-BE49-F238E27FC236}">
                    <a16:creationId xmlns:a16="http://schemas.microsoft.com/office/drawing/2014/main" id="{C0A49076-3EEE-5800-73FD-C6A599948DBE}"/>
                  </a:ext>
                </a:extLst>
              </p:cNvPr>
              <p:cNvGrpSpPr/>
              <p:nvPr/>
            </p:nvGrpSpPr>
            <p:grpSpPr>
              <a:xfrm>
                <a:off x="4202868" y="3058872"/>
                <a:ext cx="1714532" cy="1179486"/>
                <a:chOff x="1976503" y="2030711"/>
                <a:chExt cx="1714532" cy="1179486"/>
              </a:xfrm>
            </p:grpSpPr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E651AC76-8B65-D9AD-F42F-4663F9B378F2}"/>
                    </a:ext>
                  </a:extLst>
                </p:cNvPr>
                <p:cNvSpPr/>
                <p:nvPr/>
              </p:nvSpPr>
              <p:spPr>
                <a:xfrm>
                  <a:off x="1976503" y="2046703"/>
                  <a:ext cx="1708884" cy="1162701"/>
                </a:xfrm>
                <a:prstGeom prst="rect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8D5E70A2-782A-2D23-656E-5BFB0DA3A800}"/>
                    </a:ext>
                  </a:extLst>
                </p:cNvPr>
                <p:cNvSpPr txBox="1"/>
                <p:nvPr/>
              </p:nvSpPr>
              <p:spPr>
                <a:xfrm>
                  <a:off x="3023865" y="2030711"/>
                  <a:ext cx="66717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STATE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4BAAB54D-4361-E7CE-631A-1611BBE135C3}"/>
                    </a:ext>
                  </a:extLst>
                </p:cNvPr>
                <p:cNvSpPr txBox="1"/>
                <p:nvPr/>
              </p:nvSpPr>
              <p:spPr>
                <a:xfrm>
                  <a:off x="3174547" y="2205053"/>
                  <a:ext cx="5164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RXD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019BBC4C-363D-6796-29C7-1A43076B0C3D}"/>
                    </a:ext>
                  </a:extLst>
                </p:cNvPr>
                <p:cNvSpPr txBox="1"/>
                <p:nvPr/>
              </p:nvSpPr>
              <p:spPr>
                <a:xfrm>
                  <a:off x="3185768" y="2379395"/>
                  <a:ext cx="50526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TXD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B6515C5E-40CB-C6BD-52C4-86D095D4FC3B}"/>
                    </a:ext>
                  </a:extLst>
                </p:cNvPr>
                <p:cNvSpPr txBox="1"/>
                <p:nvPr/>
              </p:nvSpPr>
              <p:spPr>
                <a:xfrm>
                  <a:off x="3129663" y="2553737"/>
                  <a:ext cx="56137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GND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3974EE5E-8F21-8877-E5D6-AC8FF428BD90}"/>
                    </a:ext>
                  </a:extLst>
                </p:cNvPr>
                <p:cNvSpPr txBox="1"/>
                <p:nvPr/>
              </p:nvSpPr>
              <p:spPr>
                <a:xfrm>
                  <a:off x="3174547" y="2728079"/>
                  <a:ext cx="5164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VCC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98A2B847-F576-166D-C315-8DC2E4DA600C}"/>
                    </a:ext>
                  </a:extLst>
                </p:cNvPr>
                <p:cNvSpPr txBox="1"/>
                <p:nvPr/>
              </p:nvSpPr>
              <p:spPr>
                <a:xfrm>
                  <a:off x="3219431" y="2902420"/>
                  <a:ext cx="47160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KEY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B055F978-AAD0-1D36-EBF7-62E4A4C60209}"/>
                    </a:ext>
                  </a:extLst>
                </p:cNvPr>
                <p:cNvSpPr txBox="1"/>
                <p:nvPr/>
              </p:nvSpPr>
              <p:spPr>
                <a:xfrm>
                  <a:off x="1976503" y="2474164"/>
                  <a:ext cx="92204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>
                      <a:solidFill>
                        <a:schemeClr val="bg1"/>
                      </a:solidFill>
                    </a:rPr>
                    <a:t>蓝牙模块</a:t>
                  </a:r>
                </a:p>
              </p:txBody>
            </p:sp>
          </p:grp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E0956A09-F3B6-05D7-D460-CA35A8D97E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7400" y="3926442"/>
                <a:ext cx="296765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199F0952-793E-5159-B8FB-ED15EA14AA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50452" y="3926442"/>
                <a:ext cx="296765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EAC00B45-F36A-03DB-5A5F-79DE53C9AA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4164" y="3926442"/>
                <a:ext cx="0" cy="22098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81CD321B-BA84-D66C-3EC2-C16F5F6674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11228" y="4147422"/>
                <a:ext cx="205871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AEBEE53A-00CE-22BB-F3A5-E1FB69EE0E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9181" y="3926442"/>
                <a:ext cx="0" cy="22098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BD836E38-F613-5B5A-A493-E7FB13E60E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6245" y="4147422"/>
                <a:ext cx="205871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>
                <a:extLst>
                  <a:ext uri="{FF2B5EF4-FFF2-40B4-BE49-F238E27FC236}">
                    <a16:creationId xmlns:a16="http://schemas.microsoft.com/office/drawing/2014/main" id="{D180B1F3-9622-94CE-A9A7-C4EC8C39BD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17400" y="3389778"/>
                <a:ext cx="521922" cy="1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>
                <a:extLst>
                  <a:ext uri="{FF2B5EF4-FFF2-40B4-BE49-F238E27FC236}">
                    <a16:creationId xmlns:a16="http://schemas.microsoft.com/office/drawing/2014/main" id="{A5FC0F63-7D94-9386-9DBD-8E8E7BB9CF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7400" y="3564495"/>
                <a:ext cx="521922" cy="42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>
                <a:extLst>
                  <a:ext uri="{FF2B5EF4-FFF2-40B4-BE49-F238E27FC236}">
                    <a16:creationId xmlns:a16="http://schemas.microsoft.com/office/drawing/2014/main" id="{D7C5302A-02E2-0AE2-BC75-6098C438D792}"/>
                  </a:ext>
                </a:extLst>
              </p:cNvPr>
              <p:cNvCxnSpPr>
                <a:cxnSpLocks/>
                <a:endCxn id="69" idx="1"/>
              </p:cNvCxnSpPr>
              <p:nvPr/>
            </p:nvCxnSpPr>
            <p:spPr>
              <a:xfrm flipV="1">
                <a:off x="5917400" y="3735787"/>
                <a:ext cx="1432618" cy="2676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>
                <a:extLst>
                  <a:ext uri="{FF2B5EF4-FFF2-40B4-BE49-F238E27FC236}">
                    <a16:creationId xmlns:a16="http://schemas.microsoft.com/office/drawing/2014/main" id="{29D8520E-9928-4182-778E-2387BC2ABC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43908" y="3389778"/>
                <a:ext cx="369523" cy="174717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>
                <a:extLst>
                  <a:ext uri="{FF2B5EF4-FFF2-40B4-BE49-F238E27FC236}">
                    <a16:creationId xmlns:a16="http://schemas.microsoft.com/office/drawing/2014/main" id="{7A6EACB3-DFD0-1557-329D-F84669275E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43908" y="3389779"/>
                <a:ext cx="375096" cy="174716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>
                <a:extLst>
                  <a:ext uri="{FF2B5EF4-FFF2-40B4-BE49-F238E27FC236}">
                    <a16:creationId xmlns:a16="http://schemas.microsoft.com/office/drawing/2014/main" id="{051F97AD-D10A-9668-07A3-101188A63C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18017" y="3389778"/>
                <a:ext cx="529200" cy="1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>
                <a:extLst>
                  <a:ext uri="{FF2B5EF4-FFF2-40B4-BE49-F238E27FC236}">
                    <a16:creationId xmlns:a16="http://schemas.microsoft.com/office/drawing/2014/main" id="{40C33152-7026-7CAB-A7A9-9F5B65390B2A}"/>
                  </a:ext>
                </a:extLst>
              </p:cNvPr>
              <p:cNvCxnSpPr>
                <a:cxnSpLocks/>
                <a:endCxn id="68" idx="1"/>
              </p:cNvCxnSpPr>
              <p:nvPr/>
            </p:nvCxnSpPr>
            <p:spPr>
              <a:xfrm flipV="1">
                <a:off x="6818017" y="3561445"/>
                <a:ext cx="529200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箭头: 左右 138">
              <a:extLst>
                <a:ext uri="{FF2B5EF4-FFF2-40B4-BE49-F238E27FC236}">
                  <a16:creationId xmlns:a16="http://schemas.microsoft.com/office/drawing/2014/main" id="{D3364C99-FCBA-112D-8235-822EF771AA35}"/>
                </a:ext>
              </a:extLst>
            </p:cNvPr>
            <p:cNvSpPr/>
            <p:nvPr/>
          </p:nvSpPr>
          <p:spPr>
            <a:xfrm>
              <a:off x="3059577" y="3502325"/>
              <a:ext cx="874997" cy="348683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3F68C8E6-013B-9D6D-371F-C279169F4A83}"/>
                </a:ext>
              </a:extLst>
            </p:cNvPr>
            <p:cNvSpPr/>
            <p:nvPr/>
          </p:nvSpPr>
          <p:spPr>
            <a:xfrm>
              <a:off x="1698918" y="3312210"/>
              <a:ext cx="1071332" cy="728918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</a:rPr>
                <a:t>手机</a:t>
              </a:r>
            </a:p>
          </p:txBody>
        </p:sp>
      </p:grpSp>
      <p:grpSp>
        <p:nvGrpSpPr>
          <p:cNvPr id="211" name="组合 210">
            <a:extLst>
              <a:ext uri="{FF2B5EF4-FFF2-40B4-BE49-F238E27FC236}">
                <a16:creationId xmlns:a16="http://schemas.microsoft.com/office/drawing/2014/main" id="{C69E6A69-BD61-B30C-3504-1E9CA9BD45E3}"/>
              </a:ext>
            </a:extLst>
          </p:cNvPr>
          <p:cNvGrpSpPr/>
          <p:nvPr/>
        </p:nvGrpSpPr>
        <p:grpSpPr>
          <a:xfrm>
            <a:off x="1845674" y="1298785"/>
            <a:ext cx="8671538" cy="1179486"/>
            <a:chOff x="1698918" y="1298785"/>
            <a:chExt cx="8671538" cy="1179486"/>
          </a:xfrm>
        </p:grpSpPr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8B677A02-3CD8-33C8-64F2-C873C6E4507C}"/>
                </a:ext>
              </a:extLst>
            </p:cNvPr>
            <p:cNvSpPr/>
            <p:nvPr/>
          </p:nvSpPr>
          <p:spPr>
            <a:xfrm>
              <a:off x="9058902" y="1641592"/>
              <a:ext cx="436943" cy="515664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7" name="组合 206">
              <a:extLst>
                <a:ext uri="{FF2B5EF4-FFF2-40B4-BE49-F238E27FC236}">
                  <a16:creationId xmlns:a16="http://schemas.microsoft.com/office/drawing/2014/main" id="{ACF15350-80F3-37A1-FB3E-3A478DDE52D3}"/>
                </a:ext>
              </a:extLst>
            </p:cNvPr>
            <p:cNvGrpSpPr/>
            <p:nvPr/>
          </p:nvGrpSpPr>
          <p:grpSpPr>
            <a:xfrm>
              <a:off x="4202868" y="1298785"/>
              <a:ext cx="4856034" cy="1179486"/>
              <a:chOff x="4202868" y="1298785"/>
              <a:chExt cx="4856034" cy="1179486"/>
            </a:xfrm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9C810C75-1DDC-B125-AD47-62A831AC612A}"/>
                  </a:ext>
                </a:extLst>
              </p:cNvPr>
              <p:cNvGrpSpPr/>
              <p:nvPr/>
            </p:nvGrpSpPr>
            <p:grpSpPr>
              <a:xfrm>
                <a:off x="4202868" y="1298785"/>
                <a:ext cx="1714532" cy="1179486"/>
                <a:chOff x="1976503" y="2030711"/>
                <a:chExt cx="1714532" cy="1179486"/>
              </a:xfrm>
            </p:grpSpPr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829E8244-B7EC-10B5-D2E3-211D9E7EF310}"/>
                    </a:ext>
                  </a:extLst>
                </p:cNvPr>
                <p:cNvSpPr/>
                <p:nvPr/>
              </p:nvSpPr>
              <p:spPr>
                <a:xfrm>
                  <a:off x="1976503" y="2046703"/>
                  <a:ext cx="1708884" cy="1162701"/>
                </a:xfrm>
                <a:prstGeom prst="rect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9458ED44-0134-DB9A-DE95-D6598DDDCA96}"/>
                    </a:ext>
                  </a:extLst>
                </p:cNvPr>
                <p:cNvSpPr txBox="1"/>
                <p:nvPr/>
              </p:nvSpPr>
              <p:spPr>
                <a:xfrm>
                  <a:off x="3023865" y="2030711"/>
                  <a:ext cx="66717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STATE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02D7525-3706-1F00-3B6A-231CDC57589D}"/>
                    </a:ext>
                  </a:extLst>
                </p:cNvPr>
                <p:cNvSpPr txBox="1"/>
                <p:nvPr/>
              </p:nvSpPr>
              <p:spPr>
                <a:xfrm>
                  <a:off x="3174547" y="2205053"/>
                  <a:ext cx="5164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RXD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B2E0488-1F4C-D85F-45EC-BCB74F59367F}"/>
                    </a:ext>
                  </a:extLst>
                </p:cNvPr>
                <p:cNvSpPr txBox="1"/>
                <p:nvPr/>
              </p:nvSpPr>
              <p:spPr>
                <a:xfrm>
                  <a:off x="3185768" y="2379395"/>
                  <a:ext cx="50526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TXD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CA36BB2-E059-8747-04D7-1A017C29F76E}"/>
                    </a:ext>
                  </a:extLst>
                </p:cNvPr>
                <p:cNvSpPr txBox="1"/>
                <p:nvPr/>
              </p:nvSpPr>
              <p:spPr>
                <a:xfrm>
                  <a:off x="3129663" y="2553737"/>
                  <a:ext cx="56137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GND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21F29AC9-99D6-BC41-3956-BFA4704FEA58}"/>
                    </a:ext>
                  </a:extLst>
                </p:cNvPr>
                <p:cNvSpPr txBox="1"/>
                <p:nvPr/>
              </p:nvSpPr>
              <p:spPr>
                <a:xfrm>
                  <a:off x="3174547" y="2728079"/>
                  <a:ext cx="5164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VCC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A6290E48-199A-DE26-1478-68D4DC691A0F}"/>
                    </a:ext>
                  </a:extLst>
                </p:cNvPr>
                <p:cNvSpPr txBox="1"/>
                <p:nvPr/>
              </p:nvSpPr>
              <p:spPr>
                <a:xfrm>
                  <a:off x="3219431" y="2902420"/>
                  <a:ext cx="47160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KEY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F5FC42C2-836A-2F77-A07A-AD787A5BEFAD}"/>
                    </a:ext>
                  </a:extLst>
                </p:cNvPr>
                <p:cNvSpPr txBox="1"/>
                <p:nvPr/>
              </p:nvSpPr>
              <p:spPr>
                <a:xfrm>
                  <a:off x="1976503" y="2474164"/>
                  <a:ext cx="92204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>
                      <a:solidFill>
                        <a:schemeClr val="bg1"/>
                      </a:solidFill>
                    </a:rPr>
                    <a:t>蓝牙模块</a:t>
                  </a:r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41629220-DA69-C8FA-BF0C-6B70DF3A737E}"/>
                  </a:ext>
                </a:extLst>
              </p:cNvPr>
              <p:cNvGrpSpPr/>
              <p:nvPr/>
            </p:nvGrpSpPr>
            <p:grpSpPr>
              <a:xfrm>
                <a:off x="7350018" y="1314777"/>
                <a:ext cx="1708884" cy="1162701"/>
                <a:chOff x="4895261" y="2046703"/>
                <a:chExt cx="1708884" cy="1162701"/>
              </a:xfrm>
            </p:grpSpPr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04BC6132-225B-1221-F1C3-1ACBC918C0AE}"/>
                    </a:ext>
                  </a:extLst>
                </p:cNvPr>
                <p:cNvSpPr/>
                <p:nvPr/>
              </p:nvSpPr>
              <p:spPr>
                <a:xfrm>
                  <a:off x="4895261" y="2046703"/>
                  <a:ext cx="1708884" cy="1162701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564D0F8-E385-6253-6902-4A823B309AD1}"/>
                    </a:ext>
                  </a:extLst>
                </p:cNvPr>
                <p:cNvSpPr txBox="1"/>
                <p:nvPr/>
              </p:nvSpPr>
              <p:spPr>
                <a:xfrm>
                  <a:off x="5566682" y="2474164"/>
                  <a:ext cx="103746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1"/>
                      </a:solidFill>
                    </a:rPr>
                    <a:t>USB</a:t>
                  </a:r>
                  <a:r>
                    <a:rPr lang="zh-CN" altLang="en-US" sz="1400">
                      <a:solidFill>
                        <a:schemeClr val="bg1"/>
                      </a:solidFill>
                    </a:rPr>
                    <a:t>转串口</a:t>
                  </a:r>
                </a:p>
              </p:txBody>
            </p:sp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3E5233C9-EF33-D9A9-8A7A-97C919BDEF2D}"/>
                    </a:ext>
                  </a:extLst>
                </p:cNvPr>
                <p:cNvSpPr txBox="1"/>
                <p:nvPr/>
              </p:nvSpPr>
              <p:spPr>
                <a:xfrm>
                  <a:off x="4895261" y="2205053"/>
                  <a:ext cx="5164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1"/>
                      </a:solidFill>
                    </a:rPr>
                    <a:t>RXD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7C8A61B-62B5-C2CD-6A95-92A64D4D15D9}"/>
                    </a:ext>
                  </a:extLst>
                </p:cNvPr>
                <p:cNvSpPr txBox="1"/>
                <p:nvPr/>
              </p:nvSpPr>
              <p:spPr>
                <a:xfrm>
                  <a:off x="4895261" y="2379395"/>
                  <a:ext cx="50526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1"/>
                      </a:solidFill>
                    </a:rPr>
                    <a:t>TXD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C71592A-A82B-EAA5-1393-12C6747F1E2E}"/>
                    </a:ext>
                  </a:extLst>
                </p:cNvPr>
                <p:cNvSpPr txBox="1"/>
                <p:nvPr/>
              </p:nvSpPr>
              <p:spPr>
                <a:xfrm>
                  <a:off x="4895261" y="2553737"/>
                  <a:ext cx="56137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1"/>
                      </a:solidFill>
                    </a:rPr>
                    <a:t>GND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BAF6FC2F-761D-087F-F5CF-88E7E98B9A43}"/>
                    </a:ext>
                  </a:extLst>
                </p:cNvPr>
                <p:cNvSpPr txBox="1"/>
                <p:nvPr/>
              </p:nvSpPr>
              <p:spPr>
                <a:xfrm>
                  <a:off x="4895261" y="2730185"/>
                  <a:ext cx="7569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1"/>
                      </a:solidFill>
                    </a:rPr>
                    <a:t>5V/3V3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5AE6995F-004D-A4A8-2AC8-9F79927A2DF5}"/>
                  </a:ext>
                </a:extLst>
              </p:cNvPr>
              <p:cNvCxnSpPr>
                <a:cxnSpLocks/>
                <a:stCxn id="14" idx="3"/>
                <a:endCxn id="26" idx="1"/>
              </p:cNvCxnSpPr>
              <p:nvPr/>
            </p:nvCxnSpPr>
            <p:spPr>
              <a:xfrm>
                <a:off x="5917400" y="1975700"/>
                <a:ext cx="1432618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375366B2-EF1F-6B3B-E369-41E927912C31}"/>
                  </a:ext>
                </a:extLst>
              </p:cNvPr>
              <p:cNvCxnSpPr>
                <a:cxnSpLocks/>
                <a:stCxn id="16" idx="3"/>
                <a:endCxn id="28" idx="1"/>
              </p:cNvCxnSpPr>
              <p:nvPr/>
            </p:nvCxnSpPr>
            <p:spPr>
              <a:xfrm>
                <a:off x="5917400" y="2150042"/>
                <a:ext cx="1432618" cy="2106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>
                <a:extLst>
                  <a:ext uri="{FF2B5EF4-FFF2-40B4-BE49-F238E27FC236}">
                    <a16:creationId xmlns:a16="http://schemas.microsoft.com/office/drawing/2014/main" id="{2C565E48-C16F-16EC-D5EF-1C2DCF56EA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17400" y="1641592"/>
                <a:ext cx="521922" cy="1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>
                <a:extLst>
                  <a:ext uri="{FF2B5EF4-FFF2-40B4-BE49-F238E27FC236}">
                    <a16:creationId xmlns:a16="http://schemas.microsoft.com/office/drawing/2014/main" id="{4F5062FD-345D-A9D5-46ED-CF297BBC28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7400" y="1816309"/>
                <a:ext cx="521922" cy="42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>
                <a:extLst>
                  <a:ext uri="{FF2B5EF4-FFF2-40B4-BE49-F238E27FC236}">
                    <a16:creationId xmlns:a16="http://schemas.microsoft.com/office/drawing/2014/main" id="{2438ADD4-ABD3-C043-ACD1-FA35D89D1D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43908" y="1641592"/>
                <a:ext cx="369523" cy="174717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1E823B1A-7CAA-0B30-0F61-3119B18639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43908" y="1641593"/>
                <a:ext cx="375096" cy="174716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>
                <a:extLst>
                  <a:ext uri="{FF2B5EF4-FFF2-40B4-BE49-F238E27FC236}">
                    <a16:creationId xmlns:a16="http://schemas.microsoft.com/office/drawing/2014/main" id="{42E2E26E-172B-00AD-3A62-3C8A5D0CE0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18017" y="1641592"/>
                <a:ext cx="529200" cy="1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>
                <a:extLst>
                  <a:ext uri="{FF2B5EF4-FFF2-40B4-BE49-F238E27FC236}">
                    <a16:creationId xmlns:a16="http://schemas.microsoft.com/office/drawing/2014/main" id="{D399FD4A-C9BE-CEEF-1983-78A5867942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18017" y="1813259"/>
                <a:ext cx="529200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6" name="箭头: 左右 135">
              <a:extLst>
                <a:ext uri="{FF2B5EF4-FFF2-40B4-BE49-F238E27FC236}">
                  <a16:creationId xmlns:a16="http://schemas.microsoft.com/office/drawing/2014/main" id="{3CD3ABD1-FA0A-093F-3B13-208B5757AEB3}"/>
                </a:ext>
              </a:extLst>
            </p:cNvPr>
            <p:cNvSpPr/>
            <p:nvPr/>
          </p:nvSpPr>
          <p:spPr>
            <a:xfrm>
              <a:off x="3059577" y="1721784"/>
              <a:ext cx="874997" cy="348683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3C7FB344-19C8-691B-A5EF-9B4EF3F0BBF9}"/>
                </a:ext>
              </a:extLst>
            </p:cNvPr>
            <p:cNvSpPr/>
            <p:nvPr/>
          </p:nvSpPr>
          <p:spPr>
            <a:xfrm>
              <a:off x="1698918" y="1531669"/>
              <a:ext cx="1071332" cy="728918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</a:rPr>
                <a:t>手机</a:t>
              </a:r>
            </a:p>
          </p:txBody>
        </p: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2CA0FC51-DB1E-A460-0DE0-43F847FD0601}"/>
                </a:ext>
              </a:extLst>
            </p:cNvPr>
            <p:cNvSpPr/>
            <p:nvPr/>
          </p:nvSpPr>
          <p:spPr>
            <a:xfrm>
              <a:off x="9299124" y="1531669"/>
              <a:ext cx="1071332" cy="728918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</a:rPr>
                <a:t>电脑</a:t>
              </a:r>
            </a:p>
          </p:txBody>
        </p:sp>
      </p:grp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3F1D1091-696A-F422-0BEA-808232735E63}"/>
              </a:ext>
            </a:extLst>
          </p:cNvPr>
          <p:cNvGrpSpPr/>
          <p:nvPr/>
        </p:nvGrpSpPr>
        <p:grpSpPr>
          <a:xfrm>
            <a:off x="814738" y="4786133"/>
            <a:ext cx="10562526" cy="1406910"/>
            <a:chOff x="814738" y="4786133"/>
            <a:chExt cx="10562526" cy="1406910"/>
          </a:xfrm>
        </p:grpSpPr>
        <p:grpSp>
          <p:nvGrpSpPr>
            <p:cNvPr id="205" name="组合 204">
              <a:extLst>
                <a:ext uri="{FF2B5EF4-FFF2-40B4-BE49-F238E27FC236}">
                  <a16:creationId xmlns:a16="http://schemas.microsoft.com/office/drawing/2014/main" id="{A245BBAA-DDC0-6BA8-49FE-57851A507E99}"/>
                </a:ext>
              </a:extLst>
            </p:cNvPr>
            <p:cNvGrpSpPr/>
            <p:nvPr/>
          </p:nvGrpSpPr>
          <p:grpSpPr>
            <a:xfrm>
              <a:off x="6515620" y="4786133"/>
              <a:ext cx="4861644" cy="1406910"/>
              <a:chOff x="4202868" y="4786133"/>
              <a:chExt cx="4861644" cy="1406910"/>
            </a:xfrm>
          </p:grpSpPr>
          <p:grpSp>
            <p:nvGrpSpPr>
              <p:cNvPr id="142" name="组合 141">
                <a:extLst>
                  <a:ext uri="{FF2B5EF4-FFF2-40B4-BE49-F238E27FC236}">
                    <a16:creationId xmlns:a16="http://schemas.microsoft.com/office/drawing/2014/main" id="{778CAC24-13D6-7F2F-797C-3D401E9AB466}"/>
                  </a:ext>
                </a:extLst>
              </p:cNvPr>
              <p:cNvGrpSpPr/>
              <p:nvPr/>
            </p:nvGrpSpPr>
            <p:grpSpPr>
              <a:xfrm>
                <a:off x="7350018" y="4802125"/>
                <a:ext cx="1714494" cy="1162701"/>
                <a:chOff x="4895261" y="2046703"/>
                <a:chExt cx="1714494" cy="1162701"/>
              </a:xfrm>
            </p:grpSpPr>
            <p:sp>
              <p:nvSpPr>
                <p:cNvPr id="143" name="矩形 142">
                  <a:extLst>
                    <a:ext uri="{FF2B5EF4-FFF2-40B4-BE49-F238E27FC236}">
                      <a16:creationId xmlns:a16="http://schemas.microsoft.com/office/drawing/2014/main" id="{87E9FCB8-DC89-034F-6F7E-457255E97CCC}"/>
                    </a:ext>
                  </a:extLst>
                </p:cNvPr>
                <p:cNvSpPr/>
                <p:nvPr/>
              </p:nvSpPr>
              <p:spPr>
                <a:xfrm>
                  <a:off x="4895261" y="2046703"/>
                  <a:ext cx="1708884" cy="116270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2EBBFBFF-E523-9C74-B617-0AC42F601A48}"/>
                    </a:ext>
                  </a:extLst>
                </p:cNvPr>
                <p:cNvSpPr txBox="1"/>
                <p:nvPr/>
              </p:nvSpPr>
              <p:spPr>
                <a:xfrm>
                  <a:off x="5886480" y="2474164"/>
                  <a:ext cx="72327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>
                      <a:solidFill>
                        <a:schemeClr val="bg1"/>
                      </a:solidFill>
                    </a:rPr>
                    <a:t>单片机</a:t>
                  </a:r>
                </a:p>
              </p:txBody>
            </p:sp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13AE2F23-8FEF-3E0E-7AFF-D95C6BBBED78}"/>
                    </a:ext>
                  </a:extLst>
                </p:cNvPr>
                <p:cNvSpPr txBox="1"/>
                <p:nvPr/>
              </p:nvSpPr>
              <p:spPr>
                <a:xfrm>
                  <a:off x="4895261" y="2205053"/>
                  <a:ext cx="5164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1"/>
                      </a:solidFill>
                    </a:rPr>
                    <a:t>RXD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2D7DB45C-61C4-9BA6-F88C-069FF38E821C}"/>
                    </a:ext>
                  </a:extLst>
                </p:cNvPr>
                <p:cNvSpPr txBox="1"/>
                <p:nvPr/>
              </p:nvSpPr>
              <p:spPr>
                <a:xfrm>
                  <a:off x="4895261" y="2379395"/>
                  <a:ext cx="50526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1"/>
                      </a:solidFill>
                    </a:rPr>
                    <a:t>TXD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4E06AA48-261B-8C15-E4A5-0283A0EB44A2}"/>
                    </a:ext>
                  </a:extLst>
                </p:cNvPr>
                <p:cNvSpPr txBox="1"/>
                <p:nvPr/>
              </p:nvSpPr>
              <p:spPr>
                <a:xfrm>
                  <a:off x="4895261" y="2553737"/>
                  <a:ext cx="56137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1"/>
                      </a:solidFill>
                    </a:rPr>
                    <a:t>GND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8816C365-F34C-1D94-EA39-AE9988E9C04D}"/>
                    </a:ext>
                  </a:extLst>
                </p:cNvPr>
                <p:cNvSpPr txBox="1"/>
                <p:nvPr/>
              </p:nvSpPr>
              <p:spPr>
                <a:xfrm>
                  <a:off x="4895261" y="2730185"/>
                  <a:ext cx="5164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1"/>
                      </a:solidFill>
                    </a:rPr>
                    <a:t>VCC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9" name="组合 148">
                <a:extLst>
                  <a:ext uri="{FF2B5EF4-FFF2-40B4-BE49-F238E27FC236}">
                    <a16:creationId xmlns:a16="http://schemas.microsoft.com/office/drawing/2014/main" id="{9E75DD1F-7472-0B46-C8F9-51657A11CECA}"/>
                  </a:ext>
                </a:extLst>
              </p:cNvPr>
              <p:cNvGrpSpPr/>
              <p:nvPr/>
            </p:nvGrpSpPr>
            <p:grpSpPr>
              <a:xfrm>
                <a:off x="4202868" y="4786133"/>
                <a:ext cx="1714532" cy="1179486"/>
                <a:chOff x="1976503" y="2030711"/>
                <a:chExt cx="1714532" cy="1179486"/>
              </a:xfrm>
            </p:grpSpPr>
            <p:sp>
              <p:nvSpPr>
                <p:cNvPr id="150" name="矩形 149">
                  <a:extLst>
                    <a:ext uri="{FF2B5EF4-FFF2-40B4-BE49-F238E27FC236}">
                      <a16:creationId xmlns:a16="http://schemas.microsoft.com/office/drawing/2014/main" id="{72207A30-A1A8-A08A-0E24-616738815E66}"/>
                    </a:ext>
                  </a:extLst>
                </p:cNvPr>
                <p:cNvSpPr/>
                <p:nvPr/>
              </p:nvSpPr>
              <p:spPr>
                <a:xfrm>
                  <a:off x="1976503" y="2046703"/>
                  <a:ext cx="1708884" cy="1162701"/>
                </a:xfrm>
                <a:prstGeom prst="rect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088AEEE1-F6D0-1A42-DA9F-EDAF9197DF4C}"/>
                    </a:ext>
                  </a:extLst>
                </p:cNvPr>
                <p:cNvSpPr txBox="1"/>
                <p:nvPr/>
              </p:nvSpPr>
              <p:spPr>
                <a:xfrm>
                  <a:off x="3023865" y="2030711"/>
                  <a:ext cx="66717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STATE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ED229C9C-BAD2-9AA3-9AED-92122CDE6A31}"/>
                    </a:ext>
                  </a:extLst>
                </p:cNvPr>
                <p:cNvSpPr txBox="1"/>
                <p:nvPr/>
              </p:nvSpPr>
              <p:spPr>
                <a:xfrm>
                  <a:off x="3174547" y="2205053"/>
                  <a:ext cx="5164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RXD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9CA29F73-7110-1B3D-6F8B-CA59CD7A2523}"/>
                    </a:ext>
                  </a:extLst>
                </p:cNvPr>
                <p:cNvSpPr txBox="1"/>
                <p:nvPr/>
              </p:nvSpPr>
              <p:spPr>
                <a:xfrm>
                  <a:off x="3185768" y="2379395"/>
                  <a:ext cx="50526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TXD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F75A82E9-E5A8-1055-7319-50B063D6CD37}"/>
                    </a:ext>
                  </a:extLst>
                </p:cNvPr>
                <p:cNvSpPr txBox="1"/>
                <p:nvPr/>
              </p:nvSpPr>
              <p:spPr>
                <a:xfrm>
                  <a:off x="3129663" y="2553737"/>
                  <a:ext cx="56137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GND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4BED5A56-4A29-A41D-2F09-A73F3AEDDB42}"/>
                    </a:ext>
                  </a:extLst>
                </p:cNvPr>
                <p:cNvSpPr txBox="1"/>
                <p:nvPr/>
              </p:nvSpPr>
              <p:spPr>
                <a:xfrm>
                  <a:off x="3174547" y="2728079"/>
                  <a:ext cx="5164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VCC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9B9F6FC4-91B5-1210-6BBF-60070E5875C8}"/>
                    </a:ext>
                  </a:extLst>
                </p:cNvPr>
                <p:cNvSpPr txBox="1"/>
                <p:nvPr/>
              </p:nvSpPr>
              <p:spPr>
                <a:xfrm>
                  <a:off x="3219431" y="2902420"/>
                  <a:ext cx="47160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KEY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81BF6455-253A-7440-29C9-608380A32F9E}"/>
                    </a:ext>
                  </a:extLst>
                </p:cNvPr>
                <p:cNvSpPr txBox="1"/>
                <p:nvPr/>
              </p:nvSpPr>
              <p:spPr>
                <a:xfrm>
                  <a:off x="1976503" y="2474164"/>
                  <a:ext cx="92204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>
                      <a:solidFill>
                        <a:schemeClr val="bg1"/>
                      </a:solidFill>
                    </a:rPr>
                    <a:t>蓝牙模块</a:t>
                  </a:r>
                </a:p>
              </p:txBody>
            </p:sp>
          </p:grpSp>
          <p:cxnSp>
            <p:nvCxnSpPr>
              <p:cNvPr id="158" name="直接连接符 157">
                <a:extLst>
                  <a:ext uri="{FF2B5EF4-FFF2-40B4-BE49-F238E27FC236}">
                    <a16:creationId xmlns:a16="http://schemas.microsoft.com/office/drawing/2014/main" id="{93CDD9CF-A84F-E999-C4D4-2DD219234E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7400" y="5653703"/>
                <a:ext cx="296765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>
                <a:extLst>
                  <a:ext uri="{FF2B5EF4-FFF2-40B4-BE49-F238E27FC236}">
                    <a16:creationId xmlns:a16="http://schemas.microsoft.com/office/drawing/2014/main" id="{9311C0FE-59F1-044B-4110-FFB9444941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50452" y="5653703"/>
                <a:ext cx="296765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>
                <a:extLst>
                  <a:ext uri="{FF2B5EF4-FFF2-40B4-BE49-F238E27FC236}">
                    <a16:creationId xmlns:a16="http://schemas.microsoft.com/office/drawing/2014/main" id="{4894BD64-DA18-00E0-09A2-0F9FF0C96B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4164" y="5653703"/>
                <a:ext cx="0" cy="22098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>
                <a:extLst>
                  <a:ext uri="{FF2B5EF4-FFF2-40B4-BE49-F238E27FC236}">
                    <a16:creationId xmlns:a16="http://schemas.microsoft.com/office/drawing/2014/main" id="{BB1D166F-09E5-DC57-1489-71EDDE2F15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11228" y="5874683"/>
                <a:ext cx="205871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>
                <a:extLst>
                  <a:ext uri="{FF2B5EF4-FFF2-40B4-BE49-F238E27FC236}">
                    <a16:creationId xmlns:a16="http://schemas.microsoft.com/office/drawing/2014/main" id="{3EAA9B53-7A62-FBB3-A941-F98B1B54D8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9181" y="5653703"/>
                <a:ext cx="0" cy="22098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>
                <a:extLst>
                  <a:ext uri="{FF2B5EF4-FFF2-40B4-BE49-F238E27FC236}">
                    <a16:creationId xmlns:a16="http://schemas.microsoft.com/office/drawing/2014/main" id="{1EEF0BEF-0E3E-5E9C-819C-E4DBFF1DCA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6245" y="5874683"/>
                <a:ext cx="205871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160143F5-C7F8-6E9A-FEE1-472D23A84638}"/>
                  </a:ext>
                </a:extLst>
              </p:cNvPr>
              <p:cNvSpPr txBox="1"/>
              <p:nvPr/>
            </p:nvSpPr>
            <p:spPr>
              <a:xfrm>
                <a:off x="6672060" y="5883294"/>
                <a:ext cx="7569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/>
                  <a:t>5V/3V3</a:t>
                </a:r>
                <a:endParaRPr lang="zh-CN" altLang="en-US" sz="1400"/>
              </a:p>
            </p:txBody>
          </p: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B4D2C1CC-1B76-2249-AEB3-2F3B7A082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17400" y="5117039"/>
                <a:ext cx="521922" cy="1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>
                <a:extLst>
                  <a:ext uri="{FF2B5EF4-FFF2-40B4-BE49-F238E27FC236}">
                    <a16:creationId xmlns:a16="http://schemas.microsoft.com/office/drawing/2014/main" id="{B0D4BEA6-D954-3CE0-869C-C89CEE4932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7400" y="5291756"/>
                <a:ext cx="521922" cy="42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>
                <a:extLst>
                  <a:ext uri="{FF2B5EF4-FFF2-40B4-BE49-F238E27FC236}">
                    <a16:creationId xmlns:a16="http://schemas.microsoft.com/office/drawing/2014/main" id="{EB73511F-CCFC-3CB2-9279-17AE28DE6197}"/>
                  </a:ext>
                </a:extLst>
              </p:cNvPr>
              <p:cNvCxnSpPr>
                <a:cxnSpLocks/>
                <a:endCxn id="147" idx="1"/>
              </p:cNvCxnSpPr>
              <p:nvPr/>
            </p:nvCxnSpPr>
            <p:spPr>
              <a:xfrm flipV="1">
                <a:off x="5917400" y="5463048"/>
                <a:ext cx="1432618" cy="2676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>
                <a:extLst>
                  <a:ext uri="{FF2B5EF4-FFF2-40B4-BE49-F238E27FC236}">
                    <a16:creationId xmlns:a16="http://schemas.microsoft.com/office/drawing/2014/main" id="{8C615B30-A555-897C-288B-14DAB6AB32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43908" y="5117039"/>
                <a:ext cx="369523" cy="174717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连接符 168">
                <a:extLst>
                  <a:ext uri="{FF2B5EF4-FFF2-40B4-BE49-F238E27FC236}">
                    <a16:creationId xmlns:a16="http://schemas.microsoft.com/office/drawing/2014/main" id="{5DD7DA14-E2A0-5455-3687-7D39CADF3B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43908" y="5117040"/>
                <a:ext cx="375096" cy="174716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0B6F81D1-FF7F-2C67-A2D0-CA6D6ABA4738}"/>
                  </a:ext>
                </a:extLst>
              </p:cNvPr>
              <p:cNvSpPr txBox="1"/>
              <p:nvPr/>
            </p:nvSpPr>
            <p:spPr>
              <a:xfrm>
                <a:off x="5832772" y="5885266"/>
                <a:ext cx="7569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/>
                  <a:t>5V/3V3</a:t>
                </a:r>
                <a:endParaRPr lang="zh-CN" altLang="en-US" sz="1400"/>
              </a:p>
            </p:txBody>
          </p:sp>
          <p:cxnSp>
            <p:nvCxnSpPr>
              <p:cNvPr id="171" name="直接连接符 170">
                <a:extLst>
                  <a:ext uri="{FF2B5EF4-FFF2-40B4-BE49-F238E27FC236}">
                    <a16:creationId xmlns:a16="http://schemas.microsoft.com/office/drawing/2014/main" id="{3A446144-049E-900B-9910-8AF3F8EBE2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18017" y="5117039"/>
                <a:ext cx="529200" cy="1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直接连接符 171">
                <a:extLst>
                  <a:ext uri="{FF2B5EF4-FFF2-40B4-BE49-F238E27FC236}">
                    <a16:creationId xmlns:a16="http://schemas.microsoft.com/office/drawing/2014/main" id="{D7FDE50C-DA87-DE82-D97D-4A43133E3FD2}"/>
                  </a:ext>
                </a:extLst>
              </p:cNvPr>
              <p:cNvCxnSpPr>
                <a:cxnSpLocks/>
                <a:endCxn id="146" idx="1"/>
              </p:cNvCxnSpPr>
              <p:nvPr/>
            </p:nvCxnSpPr>
            <p:spPr>
              <a:xfrm flipV="1">
                <a:off x="6818017" y="5288706"/>
                <a:ext cx="529200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4" name="组合 203">
              <a:extLst>
                <a:ext uri="{FF2B5EF4-FFF2-40B4-BE49-F238E27FC236}">
                  <a16:creationId xmlns:a16="http://schemas.microsoft.com/office/drawing/2014/main" id="{358307A5-806A-B267-4517-2A7D4992177B}"/>
                </a:ext>
              </a:extLst>
            </p:cNvPr>
            <p:cNvGrpSpPr/>
            <p:nvPr/>
          </p:nvGrpSpPr>
          <p:grpSpPr>
            <a:xfrm flipH="1">
              <a:off x="814738" y="4786133"/>
              <a:ext cx="4861644" cy="1406910"/>
              <a:chOff x="-1720843" y="4786133"/>
              <a:chExt cx="4861644" cy="1406910"/>
            </a:xfrm>
          </p:grpSpPr>
          <p:grpSp>
            <p:nvGrpSpPr>
              <p:cNvPr id="173" name="组合 172">
                <a:extLst>
                  <a:ext uri="{FF2B5EF4-FFF2-40B4-BE49-F238E27FC236}">
                    <a16:creationId xmlns:a16="http://schemas.microsoft.com/office/drawing/2014/main" id="{EBB4BECB-61DD-4F25-0439-84026D22D4CC}"/>
                  </a:ext>
                </a:extLst>
              </p:cNvPr>
              <p:cNvGrpSpPr/>
              <p:nvPr/>
            </p:nvGrpSpPr>
            <p:grpSpPr>
              <a:xfrm>
                <a:off x="1426307" y="4802125"/>
                <a:ext cx="1714494" cy="1162701"/>
                <a:chOff x="4895261" y="2046703"/>
                <a:chExt cx="1714494" cy="1162701"/>
              </a:xfrm>
            </p:grpSpPr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55F32BDD-579A-5B41-FCA4-01FE630B768C}"/>
                    </a:ext>
                  </a:extLst>
                </p:cNvPr>
                <p:cNvSpPr/>
                <p:nvPr/>
              </p:nvSpPr>
              <p:spPr>
                <a:xfrm>
                  <a:off x="4895261" y="2046703"/>
                  <a:ext cx="1708884" cy="116270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4819D160-EB7C-4BC6-9EDE-392E209AB3BE}"/>
                    </a:ext>
                  </a:extLst>
                </p:cNvPr>
                <p:cNvSpPr txBox="1"/>
                <p:nvPr/>
              </p:nvSpPr>
              <p:spPr>
                <a:xfrm>
                  <a:off x="5886480" y="2474164"/>
                  <a:ext cx="72327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>
                      <a:solidFill>
                        <a:schemeClr val="bg1"/>
                      </a:solidFill>
                    </a:rPr>
                    <a:t>单片机</a:t>
                  </a:r>
                </a:p>
              </p:txBody>
            </p:sp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956E8264-95C4-97BD-8D06-61ECACE3E1A7}"/>
                    </a:ext>
                  </a:extLst>
                </p:cNvPr>
                <p:cNvSpPr txBox="1"/>
                <p:nvPr/>
              </p:nvSpPr>
              <p:spPr>
                <a:xfrm>
                  <a:off x="4895261" y="2205053"/>
                  <a:ext cx="5164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1"/>
                      </a:solidFill>
                    </a:rPr>
                    <a:t>RXD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5BBACA1F-C0C0-E6CA-1341-F310A204F251}"/>
                    </a:ext>
                  </a:extLst>
                </p:cNvPr>
                <p:cNvSpPr txBox="1"/>
                <p:nvPr/>
              </p:nvSpPr>
              <p:spPr>
                <a:xfrm>
                  <a:off x="4895261" y="2379395"/>
                  <a:ext cx="50526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1"/>
                      </a:solidFill>
                    </a:rPr>
                    <a:t>TXD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12989AF9-CA9E-CF67-07F5-D92047ABE44C}"/>
                    </a:ext>
                  </a:extLst>
                </p:cNvPr>
                <p:cNvSpPr txBox="1"/>
                <p:nvPr/>
              </p:nvSpPr>
              <p:spPr>
                <a:xfrm>
                  <a:off x="4895261" y="2553737"/>
                  <a:ext cx="56137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1"/>
                      </a:solidFill>
                    </a:rPr>
                    <a:t>GND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9CB8EAC5-4986-EC6F-A436-CA794F2A96AC}"/>
                    </a:ext>
                  </a:extLst>
                </p:cNvPr>
                <p:cNvSpPr txBox="1"/>
                <p:nvPr/>
              </p:nvSpPr>
              <p:spPr>
                <a:xfrm>
                  <a:off x="4895261" y="2730185"/>
                  <a:ext cx="5164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1"/>
                      </a:solidFill>
                    </a:rPr>
                    <a:t>VCC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80" name="组合 179">
                <a:extLst>
                  <a:ext uri="{FF2B5EF4-FFF2-40B4-BE49-F238E27FC236}">
                    <a16:creationId xmlns:a16="http://schemas.microsoft.com/office/drawing/2014/main" id="{0A78157B-CEC2-3197-7ADD-7C0BDA8FE8A1}"/>
                  </a:ext>
                </a:extLst>
              </p:cNvPr>
              <p:cNvGrpSpPr/>
              <p:nvPr/>
            </p:nvGrpSpPr>
            <p:grpSpPr>
              <a:xfrm>
                <a:off x="-1720843" y="4786133"/>
                <a:ext cx="1714532" cy="1179486"/>
                <a:chOff x="1976503" y="2030711"/>
                <a:chExt cx="1714532" cy="1179486"/>
              </a:xfrm>
            </p:grpSpPr>
            <p:sp>
              <p:nvSpPr>
                <p:cNvPr id="181" name="矩形 180">
                  <a:extLst>
                    <a:ext uri="{FF2B5EF4-FFF2-40B4-BE49-F238E27FC236}">
                      <a16:creationId xmlns:a16="http://schemas.microsoft.com/office/drawing/2014/main" id="{11DEAC87-656B-7C8C-BBBB-3FCD34112752}"/>
                    </a:ext>
                  </a:extLst>
                </p:cNvPr>
                <p:cNvSpPr/>
                <p:nvPr/>
              </p:nvSpPr>
              <p:spPr>
                <a:xfrm>
                  <a:off x="1976503" y="2046703"/>
                  <a:ext cx="1708884" cy="1162701"/>
                </a:xfrm>
                <a:prstGeom prst="rect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2" name="文本框 181">
                  <a:extLst>
                    <a:ext uri="{FF2B5EF4-FFF2-40B4-BE49-F238E27FC236}">
                      <a16:creationId xmlns:a16="http://schemas.microsoft.com/office/drawing/2014/main" id="{A3D8D2A3-9CA4-C875-0B60-C4AA4DC3706E}"/>
                    </a:ext>
                  </a:extLst>
                </p:cNvPr>
                <p:cNvSpPr txBox="1"/>
                <p:nvPr/>
              </p:nvSpPr>
              <p:spPr>
                <a:xfrm>
                  <a:off x="3023865" y="2030711"/>
                  <a:ext cx="66717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STATE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33B90F9E-EC7F-572B-4002-0FC4B35B7CF4}"/>
                    </a:ext>
                  </a:extLst>
                </p:cNvPr>
                <p:cNvSpPr txBox="1"/>
                <p:nvPr/>
              </p:nvSpPr>
              <p:spPr>
                <a:xfrm>
                  <a:off x="3174547" y="2205053"/>
                  <a:ext cx="5164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RXD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21863687-FDB6-2A60-41B0-38B98C7367CE}"/>
                    </a:ext>
                  </a:extLst>
                </p:cNvPr>
                <p:cNvSpPr txBox="1"/>
                <p:nvPr/>
              </p:nvSpPr>
              <p:spPr>
                <a:xfrm>
                  <a:off x="3185768" y="2379395"/>
                  <a:ext cx="50526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TXD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8A957F74-44B5-F43A-386A-C1E2B87F27A0}"/>
                    </a:ext>
                  </a:extLst>
                </p:cNvPr>
                <p:cNvSpPr txBox="1"/>
                <p:nvPr/>
              </p:nvSpPr>
              <p:spPr>
                <a:xfrm>
                  <a:off x="3129663" y="2553737"/>
                  <a:ext cx="56137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GND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8207CFA4-2242-6684-B4AA-1E67F261E1A2}"/>
                    </a:ext>
                  </a:extLst>
                </p:cNvPr>
                <p:cNvSpPr txBox="1"/>
                <p:nvPr/>
              </p:nvSpPr>
              <p:spPr>
                <a:xfrm>
                  <a:off x="3174547" y="2728079"/>
                  <a:ext cx="5164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VCC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7" name="文本框 186">
                  <a:extLst>
                    <a:ext uri="{FF2B5EF4-FFF2-40B4-BE49-F238E27FC236}">
                      <a16:creationId xmlns:a16="http://schemas.microsoft.com/office/drawing/2014/main" id="{84340EF1-3898-14A8-0A7C-1DDED75B1C85}"/>
                    </a:ext>
                  </a:extLst>
                </p:cNvPr>
                <p:cNvSpPr txBox="1"/>
                <p:nvPr/>
              </p:nvSpPr>
              <p:spPr>
                <a:xfrm>
                  <a:off x="3219431" y="2902420"/>
                  <a:ext cx="47160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zh-CN" sz="1400">
                      <a:solidFill>
                        <a:schemeClr val="bg1"/>
                      </a:solidFill>
                    </a:rPr>
                    <a:t>KEY</a:t>
                  </a:r>
                  <a:endParaRPr lang="zh-CN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2AA15BBD-758E-E836-51D7-60BE28E3F664}"/>
                    </a:ext>
                  </a:extLst>
                </p:cNvPr>
                <p:cNvSpPr txBox="1"/>
                <p:nvPr/>
              </p:nvSpPr>
              <p:spPr>
                <a:xfrm>
                  <a:off x="1976503" y="2474164"/>
                  <a:ext cx="92204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>
                      <a:solidFill>
                        <a:schemeClr val="bg1"/>
                      </a:solidFill>
                    </a:rPr>
                    <a:t>蓝牙模块</a:t>
                  </a:r>
                </a:p>
              </p:txBody>
            </p:sp>
          </p:grpSp>
          <p:cxnSp>
            <p:nvCxnSpPr>
              <p:cNvPr id="189" name="直接连接符 188">
                <a:extLst>
                  <a:ext uri="{FF2B5EF4-FFF2-40B4-BE49-F238E27FC236}">
                    <a16:creationId xmlns:a16="http://schemas.microsoft.com/office/drawing/2014/main" id="{8C466E25-1141-6BC8-3279-6B46E5DFEA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311" y="5653703"/>
                <a:ext cx="296765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>
                <a:extLst>
                  <a:ext uri="{FF2B5EF4-FFF2-40B4-BE49-F238E27FC236}">
                    <a16:creationId xmlns:a16="http://schemas.microsoft.com/office/drawing/2014/main" id="{39A52AC3-4EEC-7A57-651D-18A2AB3F48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6741" y="5653703"/>
                <a:ext cx="296765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73FB9566-9451-2252-256A-BA12FB1073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453" y="5653703"/>
                <a:ext cx="0" cy="22098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>
                <a:extLst>
                  <a:ext uri="{FF2B5EF4-FFF2-40B4-BE49-F238E27FC236}">
                    <a16:creationId xmlns:a16="http://schemas.microsoft.com/office/drawing/2014/main" id="{D0D4B31D-AABB-78FE-88B4-0453A3932A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517" y="5874683"/>
                <a:ext cx="205871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直接连接符 192">
                <a:extLst>
                  <a:ext uri="{FF2B5EF4-FFF2-40B4-BE49-F238E27FC236}">
                    <a16:creationId xmlns:a16="http://schemas.microsoft.com/office/drawing/2014/main" id="{BC9DFCED-85AD-4579-40F1-95079049AC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5470" y="5653703"/>
                <a:ext cx="0" cy="22098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接连接符 193">
                <a:extLst>
                  <a:ext uri="{FF2B5EF4-FFF2-40B4-BE49-F238E27FC236}">
                    <a16:creationId xmlns:a16="http://schemas.microsoft.com/office/drawing/2014/main" id="{A629C820-6056-AE38-E9D0-DCC578F530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2534" y="5874683"/>
                <a:ext cx="205871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C92BD2FF-F28F-CE72-4667-BC5112A6D1DA}"/>
                  </a:ext>
                </a:extLst>
              </p:cNvPr>
              <p:cNvSpPr txBox="1"/>
              <p:nvPr/>
            </p:nvSpPr>
            <p:spPr>
              <a:xfrm>
                <a:off x="748349" y="5883294"/>
                <a:ext cx="7569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/>
                  <a:t>5V/3V3</a:t>
                </a:r>
                <a:endParaRPr lang="zh-CN" altLang="en-US" sz="1400"/>
              </a:p>
            </p:txBody>
          </p:sp>
          <p:cxnSp>
            <p:nvCxnSpPr>
              <p:cNvPr id="196" name="直接连接符 195">
                <a:extLst>
                  <a:ext uri="{FF2B5EF4-FFF2-40B4-BE49-F238E27FC236}">
                    <a16:creationId xmlns:a16="http://schemas.microsoft.com/office/drawing/2014/main" id="{EEFFFD0F-6881-58FE-4A35-C10DFD800D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6311" y="5117039"/>
                <a:ext cx="521922" cy="1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>
                <a:extLst>
                  <a:ext uri="{FF2B5EF4-FFF2-40B4-BE49-F238E27FC236}">
                    <a16:creationId xmlns:a16="http://schemas.microsoft.com/office/drawing/2014/main" id="{798976DD-0E3D-6641-23D5-E207D6A179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6311" y="5291756"/>
                <a:ext cx="521922" cy="42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>
                <a:extLst>
                  <a:ext uri="{FF2B5EF4-FFF2-40B4-BE49-F238E27FC236}">
                    <a16:creationId xmlns:a16="http://schemas.microsoft.com/office/drawing/2014/main" id="{F510DF57-8264-1C7D-7924-379844B81786}"/>
                  </a:ext>
                </a:extLst>
              </p:cNvPr>
              <p:cNvCxnSpPr>
                <a:cxnSpLocks/>
                <a:endCxn id="178" idx="1"/>
              </p:cNvCxnSpPr>
              <p:nvPr/>
            </p:nvCxnSpPr>
            <p:spPr>
              <a:xfrm flipV="1">
                <a:off x="-6311" y="5463048"/>
                <a:ext cx="1432618" cy="2676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>
                <a:extLst>
                  <a:ext uri="{FF2B5EF4-FFF2-40B4-BE49-F238E27FC236}">
                    <a16:creationId xmlns:a16="http://schemas.microsoft.com/office/drawing/2014/main" id="{4BBDBC64-3DDE-6904-3087-B868470FE8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0197" y="5117039"/>
                <a:ext cx="369523" cy="174717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 199">
                <a:extLst>
                  <a:ext uri="{FF2B5EF4-FFF2-40B4-BE49-F238E27FC236}">
                    <a16:creationId xmlns:a16="http://schemas.microsoft.com/office/drawing/2014/main" id="{063E1C9A-9580-22E4-16FA-D992C9D3A2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197" y="5117040"/>
                <a:ext cx="375096" cy="174716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152AFFF8-0C22-DFAA-093A-040B692F8E6B}"/>
                  </a:ext>
                </a:extLst>
              </p:cNvPr>
              <p:cNvSpPr txBox="1"/>
              <p:nvPr/>
            </p:nvSpPr>
            <p:spPr>
              <a:xfrm>
                <a:off x="-90939" y="5885266"/>
                <a:ext cx="7569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/>
                  <a:t>5V/3V3</a:t>
                </a:r>
                <a:endParaRPr lang="zh-CN" altLang="en-US" sz="1400"/>
              </a:p>
            </p:txBody>
          </p:sp>
          <p:cxnSp>
            <p:nvCxnSpPr>
              <p:cNvPr id="202" name="直接连接符 201">
                <a:extLst>
                  <a:ext uri="{FF2B5EF4-FFF2-40B4-BE49-F238E27FC236}">
                    <a16:creationId xmlns:a16="http://schemas.microsoft.com/office/drawing/2014/main" id="{1E2EDB8E-FB52-495F-8779-035EDD79E7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4306" y="5117039"/>
                <a:ext cx="529200" cy="1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>
                <a:extLst>
                  <a:ext uri="{FF2B5EF4-FFF2-40B4-BE49-F238E27FC236}">
                    <a16:creationId xmlns:a16="http://schemas.microsoft.com/office/drawing/2014/main" id="{2CD3D478-3B77-012C-58E4-4C49774FAF50}"/>
                  </a:ext>
                </a:extLst>
              </p:cNvPr>
              <p:cNvCxnSpPr>
                <a:cxnSpLocks/>
                <a:endCxn id="177" idx="1"/>
              </p:cNvCxnSpPr>
              <p:nvPr/>
            </p:nvCxnSpPr>
            <p:spPr>
              <a:xfrm flipV="1">
                <a:off x="894306" y="5288706"/>
                <a:ext cx="529200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8" name="箭头: 左右 207">
              <a:extLst>
                <a:ext uri="{FF2B5EF4-FFF2-40B4-BE49-F238E27FC236}">
                  <a16:creationId xmlns:a16="http://schemas.microsoft.com/office/drawing/2014/main" id="{57B27D95-2142-824A-6B3A-9F76B84BC4F8}"/>
                </a:ext>
              </a:extLst>
            </p:cNvPr>
            <p:cNvSpPr/>
            <p:nvPr/>
          </p:nvSpPr>
          <p:spPr>
            <a:xfrm>
              <a:off x="5809085" y="5216408"/>
              <a:ext cx="576237" cy="348683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62753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696000" y="121954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蓝牙未连接或者连接后按住</a:t>
            </a:r>
            <a:r>
              <a:rPr lang="en-US" altLang="zh-CN" sz="2400">
                <a:latin typeface="+mn-ea"/>
              </a:rPr>
              <a:t>KEY</a:t>
            </a:r>
            <a:r>
              <a:rPr lang="zh-CN" altLang="en-US" sz="2400">
                <a:latin typeface="+mn-ea"/>
              </a:rPr>
              <a:t>不放，可以使模块进入</a:t>
            </a:r>
            <a:r>
              <a:rPr lang="en-US" altLang="zh-CN" sz="2400">
                <a:latin typeface="+mn-ea"/>
              </a:rPr>
              <a:t>AT</a:t>
            </a:r>
            <a:r>
              <a:rPr lang="zh-CN" altLang="en-US" sz="2400">
                <a:latin typeface="+mn-ea"/>
              </a:rPr>
              <a:t>模式，此时通过串口发送</a:t>
            </a:r>
            <a:r>
              <a:rPr lang="en-US" altLang="zh-CN" sz="2400">
                <a:latin typeface="+mn-ea"/>
              </a:rPr>
              <a:t>AT</a:t>
            </a:r>
            <a:r>
              <a:rPr lang="zh-CN" altLang="en-US" sz="2400">
                <a:latin typeface="+mn-ea"/>
              </a:rPr>
              <a:t>指令，可对蓝牙模块进行配置</a:t>
            </a:r>
            <a:endParaRPr lang="en-US" altLang="zh-CN" sz="240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蓝牙模块配置（</a:t>
            </a:r>
            <a:r>
              <a:rPr lang="en-US" altLang="zh-CN" sz="2800"/>
              <a:t>AT</a:t>
            </a:r>
            <a:r>
              <a:rPr lang="zh-CN" altLang="en-US" sz="2800"/>
              <a:t>模式）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042A62FC-D74B-D4ED-50A0-28915F63F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692113"/>
              </p:ext>
            </p:extLst>
          </p:nvPr>
        </p:nvGraphicFramePr>
        <p:xfrm>
          <a:off x="2032000" y="2194958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3364372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001338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AT</a:t>
                      </a:r>
                      <a:r>
                        <a:rPr lang="zh-CN" altLang="en-US"/>
                        <a:t>指令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功能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0362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AT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测试通讯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64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AT+BAUD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查询和设置串口波特率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492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AT+DEFAULT</a:t>
                      </a:r>
                      <a:r>
                        <a:rPr lang="en-US" altLang="zh-CN"/>
                        <a:t> 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参数恢复默认值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4096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AT+ROLE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查询和设置角色（主设备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从设备）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263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AT+NAME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查询和设置经典蓝牙名称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7265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AT+PIN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查询和设置经典蓝牙配对密码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015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AT+BNAME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查询和设置</a:t>
                      </a:r>
                      <a:r>
                        <a:rPr lang="en-US" altLang="zh-CN"/>
                        <a:t>BLE</a:t>
                      </a:r>
                      <a:r>
                        <a:rPr lang="zh-CN" altLang="en-US"/>
                        <a:t>蓝牙名称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851707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E61713D1-089D-359B-1EAC-D3943A8C5816}"/>
              </a:ext>
            </a:extLst>
          </p:cNvPr>
          <p:cNvSpPr txBox="1"/>
          <p:nvPr/>
        </p:nvSpPr>
        <p:spPr>
          <a:xfrm>
            <a:off x="1117260" y="5306098"/>
            <a:ext cx="10221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000">
                <a:latin typeface="+mn-ea"/>
              </a:rPr>
              <a:t>注：以上仅以</a:t>
            </a:r>
            <a:r>
              <a:rPr lang="en-US" altLang="zh-CN" sz="2000">
                <a:latin typeface="+mn-ea"/>
              </a:rPr>
              <a:t>HC-04</a:t>
            </a:r>
            <a:r>
              <a:rPr lang="zh-CN" altLang="en-US" sz="2000">
                <a:latin typeface="+mn-ea"/>
              </a:rPr>
              <a:t>为例介绍</a:t>
            </a:r>
            <a:r>
              <a:rPr lang="en-US" altLang="zh-CN" sz="2000">
                <a:latin typeface="+mn-ea"/>
              </a:rPr>
              <a:t>AT</a:t>
            </a:r>
            <a:r>
              <a:rPr lang="zh-CN" altLang="en-US" sz="2000">
                <a:latin typeface="+mn-ea"/>
              </a:rPr>
              <a:t>模式，不同蓝牙模块的</a:t>
            </a:r>
            <a:r>
              <a:rPr lang="en-US" altLang="zh-CN" sz="2000">
                <a:latin typeface="+mn-ea"/>
              </a:rPr>
              <a:t>AT</a:t>
            </a:r>
            <a:r>
              <a:rPr lang="zh-CN" altLang="en-US" sz="2000">
                <a:latin typeface="+mn-ea"/>
              </a:rPr>
              <a:t>指令和进入</a:t>
            </a:r>
            <a:r>
              <a:rPr lang="en-US" altLang="zh-CN" sz="2000">
                <a:latin typeface="+mn-ea"/>
              </a:rPr>
              <a:t>AT</a:t>
            </a:r>
            <a:r>
              <a:rPr lang="zh-CN" altLang="en-US" sz="2000">
                <a:latin typeface="+mn-ea"/>
              </a:rPr>
              <a:t>模式的方法都可能不同，详细介绍请参考模块对应的手册</a:t>
            </a:r>
            <a:endParaRPr lang="en-US" altLang="zh-CN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33652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696000" y="1219541"/>
            <a:ext cx="1806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安卓端：</a:t>
            </a:r>
            <a:endParaRPr lang="en-US" altLang="zh-CN" sz="240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手机端软件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FEBCFAC-A38B-6D8A-6971-E640883DBD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781" y="1313427"/>
            <a:ext cx="1230183" cy="123018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D6A488E-C3BB-11D3-CE68-B818A2CC8B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0518" y="1313427"/>
            <a:ext cx="1230183" cy="123018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C1D72B4-C922-5D43-3C24-4C7774841A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650" y="1309749"/>
            <a:ext cx="1230182" cy="1230182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FE1463AA-A175-D664-0CA8-6894AFE863DE}"/>
              </a:ext>
            </a:extLst>
          </p:cNvPr>
          <p:cNvSpPr txBox="1"/>
          <p:nvPr/>
        </p:nvSpPr>
        <p:spPr>
          <a:xfrm>
            <a:off x="696000" y="4692369"/>
            <a:ext cx="2561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微信小程序端：</a:t>
            </a:r>
            <a:endParaRPr lang="en-US" altLang="zh-CN" sz="2400"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872FF38-697F-5EBC-AD97-BB9F858E1B5D}"/>
              </a:ext>
            </a:extLst>
          </p:cNvPr>
          <p:cNvSpPr txBox="1"/>
          <p:nvPr/>
        </p:nvSpPr>
        <p:spPr>
          <a:xfrm>
            <a:off x="3195558" y="2542138"/>
            <a:ext cx="172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zh-CN">
                <a:latin typeface="+mn-ea"/>
              </a:rPr>
              <a:t>HC</a:t>
            </a:r>
            <a:r>
              <a:rPr lang="zh-CN" altLang="en-US">
                <a:latin typeface="+mn-ea"/>
              </a:rPr>
              <a:t>蓝牙助手</a:t>
            </a:r>
            <a:endParaRPr lang="en-US" altLang="zh-CN"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EBA6A35-6E51-B94E-3E40-FFAB0390DA6A}"/>
              </a:ext>
            </a:extLst>
          </p:cNvPr>
          <p:cNvSpPr txBox="1"/>
          <p:nvPr/>
        </p:nvSpPr>
        <p:spPr>
          <a:xfrm>
            <a:off x="5263707" y="2542138"/>
            <a:ext cx="172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>
                <a:latin typeface="+mn-ea"/>
              </a:rPr>
              <a:t>蓝牙调试器</a:t>
            </a:r>
            <a:endParaRPr lang="en-US" altLang="zh-CN">
              <a:latin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5EE4FE-1A69-C81A-5B4B-5B92442477B2}"/>
              </a:ext>
            </a:extLst>
          </p:cNvPr>
          <p:cNvSpPr txBox="1"/>
          <p:nvPr/>
        </p:nvSpPr>
        <p:spPr>
          <a:xfrm>
            <a:off x="7281936" y="2542138"/>
            <a:ext cx="172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>
                <a:latin typeface="+mn-ea"/>
              </a:rPr>
              <a:t>蓝牙串口</a:t>
            </a:r>
            <a:endParaRPr lang="en-US" altLang="zh-CN"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1F148CF-7402-46A6-6ED6-8D006DD6E0CC}"/>
              </a:ext>
            </a:extLst>
          </p:cNvPr>
          <p:cNvSpPr txBox="1"/>
          <p:nvPr/>
        </p:nvSpPr>
        <p:spPr>
          <a:xfrm>
            <a:off x="696000" y="2958653"/>
            <a:ext cx="1806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苹果端：</a:t>
            </a:r>
            <a:endParaRPr lang="en-US" altLang="zh-CN" sz="2400">
              <a:latin typeface="+mn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53A6A0C-DC3E-922B-190B-FC622F2495D4}"/>
              </a:ext>
            </a:extLst>
          </p:cNvPr>
          <p:cNvSpPr txBox="1"/>
          <p:nvPr/>
        </p:nvSpPr>
        <p:spPr>
          <a:xfrm>
            <a:off x="3195558" y="4269960"/>
            <a:ext cx="172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zh-CN" sz="1800">
                <a:latin typeface="+mn-ea"/>
              </a:rPr>
              <a:t>LightBlue</a:t>
            </a:r>
            <a:endParaRPr lang="en-US" altLang="zh-CN">
              <a:latin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B5A739D-AD99-5D08-A3D3-DD775FB65039}"/>
              </a:ext>
            </a:extLst>
          </p:cNvPr>
          <p:cNvSpPr txBox="1"/>
          <p:nvPr/>
        </p:nvSpPr>
        <p:spPr>
          <a:xfrm>
            <a:off x="5265542" y="4269960"/>
            <a:ext cx="172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1800">
                <a:latin typeface="+mn-ea"/>
              </a:rPr>
              <a:t>蓝牙</a:t>
            </a:r>
            <a:r>
              <a:rPr lang="zh-CN" altLang="en-US">
                <a:latin typeface="+mn-ea"/>
              </a:rPr>
              <a:t>调试</a:t>
            </a:r>
            <a:r>
              <a:rPr lang="zh-CN" altLang="en-US" sz="1800">
                <a:latin typeface="+mn-ea"/>
              </a:rPr>
              <a:t>助手</a:t>
            </a:r>
            <a:endParaRPr lang="en-US" altLang="zh-CN">
              <a:latin typeface="+mn-ea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0EF571E6-7CB6-E766-6B8C-0EC3ACAEFF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781" y="4741916"/>
            <a:ext cx="1230183" cy="123018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ACDF0E62-A502-CF18-35A7-1A55333526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149" y="4741916"/>
            <a:ext cx="1230183" cy="1230183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965B9E77-EAE8-4036-2587-B12E95BD4B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019" y="4741916"/>
            <a:ext cx="1230182" cy="1230182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EAF5BD4C-A684-3AD1-CE31-9AE1D853A347}"/>
              </a:ext>
            </a:extLst>
          </p:cNvPr>
          <p:cNvSpPr txBox="1"/>
          <p:nvPr/>
        </p:nvSpPr>
        <p:spPr>
          <a:xfrm>
            <a:off x="2959299" y="5976516"/>
            <a:ext cx="2193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1800">
                <a:latin typeface="+mn-ea"/>
              </a:rPr>
              <a:t>蓝牙串口</a:t>
            </a:r>
            <a:r>
              <a:rPr lang="en-US" altLang="zh-CN" sz="1800">
                <a:latin typeface="+mn-ea"/>
              </a:rPr>
              <a:t>-</a:t>
            </a:r>
            <a:r>
              <a:rPr lang="zh-CN" altLang="en-US" sz="1800">
                <a:latin typeface="+mn-ea"/>
              </a:rPr>
              <a:t>江协科技</a:t>
            </a:r>
            <a:endParaRPr lang="en-US" altLang="zh-CN">
              <a:latin typeface="+mn-ea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B449D4F-21A6-3FCB-F48E-73A8AF44389F}"/>
              </a:ext>
            </a:extLst>
          </p:cNvPr>
          <p:cNvSpPr txBox="1"/>
          <p:nvPr/>
        </p:nvSpPr>
        <p:spPr>
          <a:xfrm>
            <a:off x="5265542" y="5976516"/>
            <a:ext cx="172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1800">
                <a:latin typeface="+mn-ea"/>
              </a:rPr>
              <a:t>蓝牙串口助手</a:t>
            </a:r>
            <a:endParaRPr lang="en-US" altLang="zh-CN">
              <a:latin typeface="+mn-ea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17C6A46-9999-4369-F7A0-77D8FEC066AA}"/>
              </a:ext>
            </a:extLst>
          </p:cNvPr>
          <p:cNvSpPr txBox="1"/>
          <p:nvPr/>
        </p:nvSpPr>
        <p:spPr>
          <a:xfrm>
            <a:off x="7099267" y="5976516"/>
            <a:ext cx="2052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zh-CN">
                <a:latin typeface="+mn-ea"/>
              </a:rPr>
              <a:t>HCBLE</a:t>
            </a:r>
            <a:r>
              <a:rPr lang="zh-CN" altLang="en-US">
                <a:latin typeface="+mn-ea"/>
              </a:rPr>
              <a:t>串口助手</a:t>
            </a:r>
            <a:endParaRPr lang="en-US" altLang="zh-CN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42F285-90A6-217F-0DBA-E93FF50A60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781" y="3042395"/>
            <a:ext cx="1230183" cy="123018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6645BAD-CC18-890F-B262-35B40E6720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650" y="3035364"/>
            <a:ext cx="1237214" cy="123721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79FC471-BA1F-8F97-C920-CF6034460ED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105" y="3030947"/>
            <a:ext cx="1234596" cy="1234596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74FAFFF-F3DD-7B7B-A0BF-67D0ECB813EF}"/>
              </a:ext>
            </a:extLst>
          </p:cNvPr>
          <p:cNvSpPr txBox="1"/>
          <p:nvPr/>
        </p:nvSpPr>
        <p:spPr>
          <a:xfrm>
            <a:off x="7263089" y="4269960"/>
            <a:ext cx="172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1800">
                <a:latin typeface="+mn-ea"/>
              </a:rPr>
              <a:t>蓝牙助手</a:t>
            </a:r>
            <a:r>
              <a:rPr lang="en-US" altLang="zh-CN" sz="1800">
                <a:latin typeface="+mn-ea"/>
              </a:rPr>
              <a:t>BLE</a:t>
            </a:r>
            <a:endParaRPr lang="en-US" altLang="zh-CN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22205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696000" y="1219541"/>
            <a:ext cx="10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正文</a:t>
            </a:r>
            <a:endParaRPr lang="en-US" altLang="zh-CN" sz="240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标题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5668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7457</TotalTime>
  <Words>419</Words>
  <Application>Microsoft Office PowerPoint</Application>
  <PresentationFormat>宽屏</PresentationFormat>
  <Paragraphs>114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 Admin</dc:creator>
  <cp:lastModifiedBy>H Admin</cp:lastModifiedBy>
  <cp:revision>397</cp:revision>
  <dcterms:created xsi:type="dcterms:W3CDTF">2023-11-10T13:55:36Z</dcterms:created>
  <dcterms:modified xsi:type="dcterms:W3CDTF">2025-09-18T07:11:36Z</dcterms:modified>
</cp:coreProperties>
</file>